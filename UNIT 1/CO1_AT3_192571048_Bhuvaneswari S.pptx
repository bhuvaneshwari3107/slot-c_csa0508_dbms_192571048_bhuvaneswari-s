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4" r:id="rId6"/>
    <p:sldId id="263" r:id="rId7"/>
    <p:sldId id="270" r:id="rId8"/>
    <p:sldId id="281" r:id="rId9"/>
    <p:sldId id="280" r:id="rId10"/>
    <p:sldId id="279" r:id="rId11"/>
    <p:sldId id="278" r:id="rId12"/>
    <p:sldId id="276" r:id="rId13"/>
    <p:sldId id="275" r:id="rId14"/>
    <p:sldId id="273" r:id="rId15"/>
    <p:sldId id="271" r:id="rId16"/>
    <p:sldId id="261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VANESWARI S" userId="bb964f7267adfd12" providerId="LiveId" clId="{7CD8639A-D684-4049-9729-226D8EE5C9EB}"/>
    <pc:docChg chg="delSld">
      <pc:chgData name="BHUVANESWARI S" userId="bb964f7267adfd12" providerId="LiveId" clId="{7CD8639A-D684-4049-9729-226D8EE5C9EB}" dt="2026-07-25T03:16:43.363" v="3" actId="2696"/>
      <pc:docMkLst>
        <pc:docMk/>
      </pc:docMkLst>
      <pc:sldChg chg="del">
        <pc:chgData name="BHUVANESWARI S" userId="bb964f7267adfd12" providerId="LiveId" clId="{7CD8639A-D684-4049-9729-226D8EE5C9EB}" dt="2026-07-25T03:16:43.363" v="3" actId="2696"/>
        <pc:sldMkLst>
          <pc:docMk/>
          <pc:sldMk cId="2077093855" sldId="260"/>
        </pc:sldMkLst>
      </pc:sldChg>
      <pc:sldChg chg="del">
        <pc:chgData name="BHUVANESWARI S" userId="bb964f7267adfd12" providerId="LiveId" clId="{7CD8639A-D684-4049-9729-226D8EE5C9EB}" dt="2026-07-25T03:16:23.900" v="2" actId="2696"/>
        <pc:sldMkLst>
          <pc:docMk/>
          <pc:sldMk cId="2089853248" sldId="272"/>
        </pc:sldMkLst>
      </pc:sldChg>
      <pc:sldChg chg="del">
        <pc:chgData name="BHUVANESWARI S" userId="bb964f7267adfd12" providerId="LiveId" clId="{7CD8639A-D684-4049-9729-226D8EE5C9EB}" dt="2026-07-25T03:16:05.940" v="1" actId="2696"/>
        <pc:sldMkLst>
          <pc:docMk/>
          <pc:sldMk cId="507291356" sldId="274"/>
        </pc:sldMkLst>
      </pc:sldChg>
      <pc:sldChg chg="del">
        <pc:chgData name="BHUVANESWARI S" userId="bb964f7267adfd12" providerId="LiveId" clId="{7CD8639A-D684-4049-9729-226D8EE5C9EB}" dt="2026-07-25T03:15:44.090" v="0" actId="2696"/>
        <pc:sldMkLst>
          <pc:docMk/>
          <pc:sldMk cId="528743077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474A-A26F-0883-5E70-8F3D5E8F1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67F2A-B425-8AFE-268E-327876D31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E5E0-0FFF-A209-1E59-60760F25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9388B-80B7-6071-C190-40986D90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6D14B-A990-52CC-E25C-CEBE3E2D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15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25FB-DB36-B39E-4988-5576E556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36A8-6DB2-595B-4122-CB93506D9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5B9A7-0EEC-7DF2-7BD2-B4458C91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B069-EEC0-F458-E614-36A58659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856FD-779F-C9BB-2B64-2A60F076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3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4F25-1079-E407-216F-3B39E289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B5465-0E4B-B20B-FFC6-5CEC3135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76CF2-7D1B-4906-75E0-CEE2B930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3BC6-45CE-3033-FAC8-752F5C7E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71E3-77BB-D5A4-7016-48C36522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97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C890-0292-3632-1417-AB32550F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EE22-7060-4EA9-C065-964657A0E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64725-9B91-D8C8-FF4F-8F4A21FF5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E99AC-AAB9-08F3-0E80-06C7E2F9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69D8C-ED82-442B-3733-DB0D2C34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5E581-A8A8-9AF2-A7F3-CCD058A7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2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DD0C-A2ED-8F01-AA26-126D5374D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C5554-CBC4-3EBA-1BDF-0B44D47F5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3A042-3196-2CA4-2888-8AF7AD2F0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EF117-D9AE-7399-D973-9DC2F39E6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D2706-9B21-592B-DAA0-8EB3F663A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F8779-0A3F-C19A-3AE7-FF0EF53B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4B70A-3E97-5F20-014A-442A0474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842CA-726E-E77B-D6B8-BBB23B0A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1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5CA3-12CF-F5B1-3D4E-E9B6F42D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56D93-068F-31C8-F9A6-DB38DCD2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7AD41-F649-CF5F-E345-B8B6227D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4D01F-E890-AFC7-B4C6-697BD16F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39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9CAE1-4FD8-5050-1F94-86958404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3B7EF-DEB4-7807-69FE-0E774A54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BC889-E246-7134-782C-8D8E1936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1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B5CA9-5827-FC0B-8049-FC4CA905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F4ED0-D329-EAE9-B5DA-0CB92F8AD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03886-EEBC-54A1-1228-99D101014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3B45A-616F-0907-F7A7-ACB6A1D3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67A19-4A8E-8A7C-3B4B-2E99E560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191AD-E1A1-87B4-ECAC-9336F7D0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55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33D9-3C51-566C-7E52-EEE915A0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65B0E-C703-07C7-03EA-6B3897E66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5E952-D2F3-32DD-37C5-F9D703743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07143-0DEA-4AEF-7EBC-11EDFF46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84071-1F28-778B-1907-55F3534E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E73E9-8D78-7ADF-61CA-F0CEEBFF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96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263F-09D0-0B99-DD28-654B05A8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C9FEC-7107-8E75-386B-4D87A573F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8B781-D06D-CFEA-1E4B-1FA86BF2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6216F-B894-AE37-13E8-4A1FF33C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CAFC-540E-D1D2-4814-BD44DC15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1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53A82F-3C5B-6393-0B5A-B815AA917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A369C-ECDF-1C5D-4823-992937E16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0629-CE1C-E1C9-88F3-5822982E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690EE-737D-31FE-41D1-C7AEC33D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7A614-88E8-A6E1-4FB8-461542E0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1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84579-8AC8-1D08-3311-0E3864A0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7CCCC-F618-6034-6AB3-78F7013B0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BEA9-E883-ECCA-3002-C31CFFD3B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935BD-0160-4B2D-9C49-573F115A9D5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BF93-7E5B-1942-45DB-A8139A52D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0A99-9D38-BE5B-1DEA-BF2E12374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25A9E-F26C-49F3-A23B-793C633F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15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4F3719-AD44-B7F8-E8D2-75E261CAA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03" y="189781"/>
            <a:ext cx="9506628" cy="1587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F37D9-1DE2-74F7-0C2D-3807E85A1F13}"/>
              </a:ext>
            </a:extLst>
          </p:cNvPr>
          <p:cNvSpPr txBox="1"/>
          <p:nvPr/>
        </p:nvSpPr>
        <p:spPr>
          <a:xfrm>
            <a:off x="475681" y="2144080"/>
            <a:ext cx="113478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(logical and physical)</a:t>
            </a:r>
          </a:p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Significance in DBMS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7D928-ADCA-D0F2-AF07-3A4A43AE31D1}"/>
              </a:ext>
            </a:extLst>
          </p:cNvPr>
          <p:cNvSpPr txBox="1"/>
          <p:nvPr/>
        </p:nvSpPr>
        <p:spPr>
          <a:xfrm>
            <a:off x="2029488" y="3372155"/>
            <a:ext cx="80265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CSA0508-Datsbase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D9FC2-AECA-C435-A0F7-D34173B8F316}"/>
              </a:ext>
            </a:extLst>
          </p:cNvPr>
          <p:cNvSpPr txBox="1"/>
          <p:nvPr/>
        </p:nvSpPr>
        <p:spPr>
          <a:xfrm>
            <a:off x="835357" y="4416300"/>
            <a:ext cx="1373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9A4FC2-1E46-1C4A-AC1C-911B1EFC1E10}"/>
              </a:ext>
            </a:extLst>
          </p:cNvPr>
          <p:cNvSpPr txBox="1"/>
          <p:nvPr/>
        </p:nvSpPr>
        <p:spPr>
          <a:xfrm>
            <a:off x="835357" y="4816410"/>
            <a:ext cx="18373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i="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Ayyappan 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B71031-7FCD-37E4-03D9-1A7170A54719}"/>
              </a:ext>
            </a:extLst>
          </p:cNvPr>
          <p:cNvSpPr txBox="1"/>
          <p:nvPr/>
        </p:nvSpPr>
        <p:spPr>
          <a:xfrm>
            <a:off x="8439435" y="4416300"/>
            <a:ext cx="1784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37C99-49B6-3280-7560-E1CC96D9E8CF}"/>
              </a:ext>
            </a:extLst>
          </p:cNvPr>
          <p:cNvSpPr txBox="1"/>
          <p:nvPr/>
        </p:nvSpPr>
        <p:spPr>
          <a:xfrm>
            <a:off x="8439435" y="4816410"/>
            <a:ext cx="32332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Bhuvaneswari S (192571048)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and Bioscience</a:t>
            </a:r>
          </a:p>
        </p:txBody>
      </p:sp>
    </p:spTree>
    <p:extLst>
      <p:ext uri="{BB962C8B-B14F-4D97-AF65-F5344CB8AC3E}">
        <p14:creationId xmlns:p14="http://schemas.microsoft.com/office/powerpoint/2010/main" val="222868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64CF5-57E8-8A66-0CF5-29F9286D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7A534E-E58D-A15F-F954-66A72A522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0723C1-B0BA-BE7B-EF11-FBDCA9B16657}"/>
              </a:ext>
            </a:extLst>
          </p:cNvPr>
          <p:cNvSpPr txBox="1"/>
          <p:nvPr/>
        </p:nvSpPr>
        <p:spPr>
          <a:xfrm>
            <a:off x="4097478" y="713377"/>
            <a:ext cx="4377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6A076-D875-A768-022D-AB83D415470A}"/>
              </a:ext>
            </a:extLst>
          </p:cNvPr>
          <p:cNvSpPr txBox="1"/>
          <p:nvPr/>
        </p:nvSpPr>
        <p:spPr>
          <a:xfrm>
            <a:off x="4097478" y="1694050"/>
            <a:ext cx="609713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DBMS?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Architecture Data Abstraction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Independence?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Independence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9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1A2A-DBFA-64BE-358F-A11D3461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409E9-80F6-D1A2-5229-AC1AC451D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3C5D0-C89C-ACC4-7503-0FA0CD85F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A77092-415E-662D-BC0E-FA38DEFB52B3}"/>
              </a:ext>
            </a:extLst>
          </p:cNvPr>
          <p:cNvSpPr txBox="1"/>
          <p:nvPr/>
        </p:nvSpPr>
        <p:spPr>
          <a:xfrm>
            <a:off x="5022011" y="678555"/>
            <a:ext cx="2484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127C0-DF46-3439-D93A-B7247FF69B42}"/>
              </a:ext>
            </a:extLst>
          </p:cNvPr>
          <p:cNvSpPr txBox="1"/>
          <p:nvPr/>
        </p:nvSpPr>
        <p:spPr>
          <a:xfrm>
            <a:off x="1780722" y="1749384"/>
            <a:ext cx="9717205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Independence?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the ability to modify the database schema without affecting application programs.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data storage from application logic.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major goals of DBMS.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databases remain flexible and maintainable.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2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93D5-637A-B923-B9BF-FE85286A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08D85C-D8F1-2C7A-B572-22FB8B35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1C4B1E-7A75-B804-2B4B-A26623DB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13B31B-9B24-DD5B-A8BB-B25CB968AD9F}"/>
              </a:ext>
            </a:extLst>
          </p:cNvPr>
          <p:cNvSpPr txBox="1"/>
          <p:nvPr/>
        </p:nvSpPr>
        <p:spPr>
          <a:xfrm>
            <a:off x="4609167" y="658083"/>
            <a:ext cx="320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DBMS?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D5E3E-253E-DC1C-2388-EED8F70D1C3C}"/>
              </a:ext>
            </a:extLst>
          </p:cNvPr>
          <p:cNvSpPr txBox="1"/>
          <p:nvPr/>
        </p:nvSpPr>
        <p:spPr>
          <a:xfrm>
            <a:off x="1665026" y="1473776"/>
            <a:ext cx="10126639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is software that stores, organizes, manages, and retrieves data efficiently.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Control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,Oracle ,SQL Server ,PostgreSQL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9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A399-C425-7492-974C-F87D1C4E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BE2E2-E4B5-305E-4213-79A43E86E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22115-5498-76B4-9468-D2882F25B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C5999D-645F-37BE-9C71-A504F6BF0F91}"/>
              </a:ext>
            </a:extLst>
          </p:cNvPr>
          <p:cNvSpPr txBox="1"/>
          <p:nvPr/>
        </p:nvSpPr>
        <p:spPr>
          <a:xfrm>
            <a:off x="4387392" y="451833"/>
            <a:ext cx="42175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4D00D-D38A-DDE4-778E-A63F8FCFD166}"/>
              </a:ext>
            </a:extLst>
          </p:cNvPr>
          <p:cNvSpPr txBox="1"/>
          <p:nvPr/>
        </p:nvSpPr>
        <p:spPr>
          <a:xfrm>
            <a:off x="1282891" y="1282882"/>
            <a:ext cx="10972799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Definition:</a:t>
            </a:r>
            <a:br>
              <a:rPr lang="en-IN" sz="2000" dirty="0"/>
            </a:br>
            <a:r>
              <a:rPr lang="en-IN" sz="2000" b="1" dirty="0"/>
              <a:t>Three-Schema Architecture</a:t>
            </a:r>
            <a:r>
              <a:rPr lang="en-IN" sz="2000" dirty="0"/>
              <a:t> is a DBMS architecture that organizes a database into </a:t>
            </a:r>
            <a:r>
              <a:rPr lang="en-IN" sz="2000" b="1" dirty="0"/>
              <a:t>External, Conceptual, and Internal levels</a:t>
            </a:r>
            <a:r>
              <a:rPr lang="en-IN" sz="2000" dirty="0"/>
              <a:t> to provide abstraction and support data independence.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External Level</a:t>
            </a: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User-specific view of the database.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Conceptual Level</a:t>
            </a: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Overall logical structure of the database.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Internal Level</a:t>
            </a: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Physical storage and organization of data.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Purpose</a:t>
            </a: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000" dirty="0"/>
              <a:t>Separates user view from physical storage.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Supports logical and physical data independence.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9F8B-43D1-F2B2-E1FA-5C1E7434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8F55E-067C-ECDB-5A4D-B8172564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C4789C-A878-158E-3D91-E5D4279F3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295421-5F8B-77F6-426E-782674F86442}"/>
              </a:ext>
            </a:extLst>
          </p:cNvPr>
          <p:cNvSpPr txBox="1"/>
          <p:nvPr/>
        </p:nvSpPr>
        <p:spPr>
          <a:xfrm>
            <a:off x="2793447" y="384174"/>
            <a:ext cx="6574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Three-Level Architecture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BE518-C83D-F13A-E580-0DC7913A5FFD}"/>
              </a:ext>
            </a:extLst>
          </p:cNvPr>
          <p:cNvSpPr txBox="1"/>
          <p:nvPr/>
        </p:nvSpPr>
        <p:spPr>
          <a:xfrm>
            <a:off x="4386050" y="1364736"/>
            <a:ext cx="60971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Users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              ▼</a:t>
            </a:r>
          </a:p>
          <a:p>
            <a:r>
              <a:rPr lang="en-IN" dirty="0"/>
              <a:t>      External Schema</a:t>
            </a:r>
          </a:p>
          <a:p>
            <a:r>
              <a:rPr lang="en-IN" dirty="0"/>
              <a:t>        (View Level)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              ▼</a:t>
            </a:r>
          </a:p>
          <a:p>
            <a:r>
              <a:rPr lang="en-IN" dirty="0"/>
              <a:t>    Conceptual Schema</a:t>
            </a:r>
          </a:p>
          <a:p>
            <a:r>
              <a:rPr lang="en-IN" dirty="0"/>
              <a:t>      (Logical Level)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              ▼</a:t>
            </a:r>
          </a:p>
          <a:p>
            <a:r>
              <a:rPr lang="en-IN" dirty="0"/>
              <a:t>      Internal Schema</a:t>
            </a:r>
          </a:p>
          <a:p>
            <a:r>
              <a:rPr lang="en-IN" dirty="0"/>
              <a:t>      (Physical Level)</a:t>
            </a:r>
          </a:p>
          <a:p>
            <a:r>
              <a:rPr lang="en-IN" dirty="0"/>
              <a:t>                │</a:t>
            </a:r>
          </a:p>
          <a:p>
            <a:r>
              <a:rPr lang="en-IN" dirty="0"/>
              <a:t>               ▼</a:t>
            </a:r>
          </a:p>
          <a:p>
            <a:r>
              <a:rPr lang="en-IN" dirty="0"/>
              <a:t>      Physical Database</a:t>
            </a:r>
          </a:p>
        </p:txBody>
      </p:sp>
    </p:spTree>
    <p:extLst>
      <p:ext uri="{BB962C8B-B14F-4D97-AF65-F5344CB8AC3E}">
        <p14:creationId xmlns:p14="http://schemas.microsoft.com/office/powerpoint/2010/main" val="337865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E4CB3-2DFC-94C5-0FFD-2E55FA58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B4A15-1070-7C76-DA62-825B2DB39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4778CB-6540-ADB2-0C07-423FFD5D9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3117F6-2CB4-ACAB-EC0B-5E8846F47A26}"/>
              </a:ext>
            </a:extLst>
          </p:cNvPr>
          <p:cNvSpPr txBox="1"/>
          <p:nvPr/>
        </p:nvSpPr>
        <p:spPr>
          <a:xfrm>
            <a:off x="4633049" y="340958"/>
            <a:ext cx="3698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Abstraction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75CD8-F737-A4A3-EA2C-BA7A06BEB6C8}"/>
              </a:ext>
            </a:extLst>
          </p:cNvPr>
          <p:cNvSpPr txBox="1"/>
          <p:nvPr/>
        </p:nvSpPr>
        <p:spPr>
          <a:xfrm>
            <a:off x="1745206" y="1038001"/>
            <a:ext cx="9050171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Abstraction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hiding unnecessary implementation details while showing only the essential information to users.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Data Abstraction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Level: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Describes how data is stored in the database.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Level: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Describes what data is stored and the relationships among the data.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Level: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only the required data to specific users.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Hides complexity from users.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security by restricting access.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database management.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 independence.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0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34F7-69ED-9437-C554-50EAE946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2594B-D6F2-8E94-9349-FD9A831C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2B63AA-05D3-047D-9A65-1179D351A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46B65E-1A6B-A3AC-64DC-669A1DCEF92D}"/>
              </a:ext>
            </a:extLst>
          </p:cNvPr>
          <p:cNvSpPr txBox="1"/>
          <p:nvPr/>
        </p:nvSpPr>
        <p:spPr>
          <a:xfrm>
            <a:off x="3423883" y="658084"/>
            <a:ext cx="5685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Independence?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AEA2D-72FA-F546-C162-45F0A2E1FE3B}"/>
              </a:ext>
            </a:extLst>
          </p:cNvPr>
          <p:cNvSpPr txBox="1"/>
          <p:nvPr/>
        </p:nvSpPr>
        <p:spPr>
          <a:xfrm>
            <a:off x="2140992" y="1754022"/>
            <a:ext cx="859297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the ability to change one level of the database without affecting the next higher level.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61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95FC-3020-9F1D-CDD0-80C94184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7A3483-AD96-09FC-4F96-46A619093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048FA4-3FF5-6AE0-CEE3-FB67B796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F37C15-DE70-AFA6-96CF-53A63787E521}"/>
              </a:ext>
            </a:extLst>
          </p:cNvPr>
          <p:cNvSpPr txBox="1"/>
          <p:nvPr/>
        </p:nvSpPr>
        <p:spPr>
          <a:xfrm>
            <a:off x="3417059" y="828676"/>
            <a:ext cx="5624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Data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90F48-6F18-CFBF-BBFC-523A756A752F}"/>
              </a:ext>
            </a:extLst>
          </p:cNvPr>
          <p:cNvSpPr txBox="1"/>
          <p:nvPr/>
        </p:nvSpPr>
        <p:spPr>
          <a:xfrm>
            <a:off x="3792372" y="1712500"/>
            <a:ext cx="6097136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database maintenance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upgrades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application modification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development cost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flexibility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64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B309-0372-76A1-21C3-76FF3F5B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7B36D-E4BC-AFE9-BC5D-378FC655A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93EEC1-7650-B55B-C228-95CBB840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93B807-7071-CAEC-7B04-E9E0C0D1E366}"/>
              </a:ext>
            </a:extLst>
          </p:cNvPr>
          <p:cNvSpPr txBox="1"/>
          <p:nvPr/>
        </p:nvSpPr>
        <p:spPr>
          <a:xfrm>
            <a:off x="3662717" y="536288"/>
            <a:ext cx="52970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45996-BD79-3B9C-9BC8-4B338D81AB06}"/>
              </a:ext>
            </a:extLst>
          </p:cNvPr>
          <p:cNvSpPr txBox="1"/>
          <p:nvPr/>
        </p:nvSpPr>
        <p:spPr>
          <a:xfrm>
            <a:off x="1472252" y="1638196"/>
            <a:ext cx="995092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physical storage without changing the logical schema.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may 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organization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methods 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remain unaffected.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4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C0457-3E08-8A03-9745-84D8BF75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D3089-A7EC-A725-4445-7E75FCF8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AD403A-8A1D-7F56-F71D-FA89D6379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54A5C2-A741-7BA8-E9D4-FA47A86AA4E3}"/>
              </a:ext>
            </a:extLst>
          </p:cNvPr>
          <p:cNvSpPr txBox="1"/>
          <p:nvPr/>
        </p:nvSpPr>
        <p:spPr>
          <a:xfrm>
            <a:off x="2329347" y="494871"/>
            <a:ext cx="7502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Physical Data Independence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19C89-C274-FAEE-F741-BE8EE541F39C}"/>
              </a:ext>
            </a:extLst>
          </p:cNvPr>
          <p:cNvSpPr txBox="1"/>
          <p:nvPr/>
        </p:nvSpPr>
        <p:spPr>
          <a:xfrm>
            <a:off x="2250175" y="1428662"/>
            <a:ext cx="39186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Initially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Student Table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Stored in HDD</a:t>
            </a:r>
          </a:p>
          <a:p>
            <a:pPr>
              <a:buNone/>
            </a:pPr>
            <a:r>
              <a:rPr lang="en-IN" dirty="0"/>
              <a:t>Later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Student Table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Stored in SSD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ADD38A-9A3D-D870-07D6-C08172F001B7}"/>
              </a:ext>
            </a:extLst>
          </p:cNvPr>
          <p:cNvSpPr txBox="1"/>
          <p:nvPr/>
        </p:nvSpPr>
        <p:spPr>
          <a:xfrm>
            <a:off x="4363686" y="2813656"/>
            <a:ext cx="7502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continue working normally because only storage changed</a:t>
            </a:r>
            <a:r>
              <a:rPr lang="en-IN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4383C8-6E29-4530-2A13-ACEBE72FC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101" y="3296246"/>
            <a:ext cx="3678117" cy="32358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112638-F478-81C3-70DA-2BA7EA2EA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58" y="3296246"/>
            <a:ext cx="3678117" cy="323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74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EC98A-235A-BD3D-CEBD-4030E545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5B1AA-5D87-F73D-2B83-6CAC5680A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A8EFFF-2752-F8FF-AE94-E6BC9AD89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553D08-0FB8-E107-3804-D56908E7258C}"/>
              </a:ext>
            </a:extLst>
          </p:cNvPr>
          <p:cNvSpPr txBox="1"/>
          <p:nvPr/>
        </p:nvSpPr>
        <p:spPr>
          <a:xfrm>
            <a:off x="3708415" y="729939"/>
            <a:ext cx="5128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627BD-A8B6-8899-8404-5AF5690082DE}"/>
              </a:ext>
            </a:extLst>
          </p:cNvPr>
          <p:cNvSpPr txBox="1"/>
          <p:nvPr/>
        </p:nvSpPr>
        <p:spPr>
          <a:xfrm>
            <a:off x="1733266" y="1785541"/>
            <a:ext cx="9362364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change the logical schema without affecting external views or application programs.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column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table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relationships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921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CFFCF-D88D-218C-EEF5-81EF7524A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8B69C-3B1A-73CB-4588-ABD244684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572F03-AA53-CB58-48AA-FD6F15E4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C74079-CED0-AFBC-B038-01A97498FBCA}"/>
              </a:ext>
            </a:extLst>
          </p:cNvPr>
          <p:cNvSpPr txBox="1"/>
          <p:nvPr/>
        </p:nvSpPr>
        <p:spPr>
          <a:xfrm>
            <a:off x="129343" y="1628085"/>
            <a:ext cx="60971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Student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Name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Department</a:t>
            </a:r>
          </a:p>
          <a:p>
            <a:pPr>
              <a:buNone/>
            </a:pPr>
            <a:r>
              <a:rPr lang="en-IN" dirty="0"/>
              <a:t>After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Student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ID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Name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Department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Email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Phone</a:t>
            </a:r>
          </a:p>
          <a:p>
            <a:pPr>
              <a:buNone/>
            </a:pPr>
            <a:r>
              <a:rPr lang="en-IN" dirty="0"/>
              <a:t>Existing applications continue functioning with little or no modification.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AAD07-08B1-6632-C091-3F2CC80FB6AA}"/>
              </a:ext>
            </a:extLst>
          </p:cNvPr>
          <p:cNvSpPr txBox="1"/>
          <p:nvPr/>
        </p:nvSpPr>
        <p:spPr>
          <a:xfrm>
            <a:off x="2479263" y="559691"/>
            <a:ext cx="7333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Logical Data Independence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FB1B10-66DC-3FC3-01E6-FF72EFEA4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416" y="1757739"/>
            <a:ext cx="4524408" cy="2581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EFBDF1-4D85-FF47-07D4-50171B866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951" y="2138742"/>
            <a:ext cx="4524408" cy="220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41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99423-36CA-6D13-2687-4FA118A8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79F8C-16F5-4183-CE9F-C0EED339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C77FF-9D32-9050-3B04-81618520A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910AF-752F-2C9C-9291-BFA5DBD0E136}"/>
              </a:ext>
            </a:extLst>
          </p:cNvPr>
          <p:cNvSpPr txBox="1"/>
          <p:nvPr/>
        </p:nvSpPr>
        <p:spPr>
          <a:xfrm>
            <a:off x="4986551" y="559691"/>
            <a:ext cx="2792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C40484-4FDA-6A9B-E0E7-50BD20B1D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332103"/>
              </p:ext>
            </p:extLst>
          </p:nvPr>
        </p:nvGraphicFramePr>
        <p:xfrm>
          <a:off x="2400868" y="2331720"/>
          <a:ext cx="7691651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54272">
                  <a:extLst>
                    <a:ext uri="{9D8B030D-6E8A-4147-A177-3AD203B41FA5}">
                      <a16:colId xmlns:a16="http://schemas.microsoft.com/office/drawing/2014/main" val="328749985"/>
                    </a:ext>
                  </a:extLst>
                </a:gridCol>
                <a:gridCol w="3937379">
                  <a:extLst>
                    <a:ext uri="{9D8B030D-6E8A-4147-A177-3AD203B41FA5}">
                      <a16:colId xmlns:a16="http://schemas.microsoft.com/office/drawing/2014/main" val="2390848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73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Internal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Conceptual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10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Difficult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639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61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flexibility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24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organization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6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65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E67F-C304-0150-E320-EC565D99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9E68C-F531-1021-07F5-887E7D625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5630EC-7E48-B1DD-962F-EB7278BC7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0E458F-B989-B165-1958-FE987AF71665}"/>
              </a:ext>
            </a:extLst>
          </p:cNvPr>
          <p:cNvSpPr txBox="1"/>
          <p:nvPr/>
        </p:nvSpPr>
        <p:spPr>
          <a:xfrm>
            <a:off x="4010735" y="609059"/>
            <a:ext cx="4921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96E13-761F-A782-D3F0-6C2180017D1F}"/>
              </a:ext>
            </a:extLst>
          </p:cNvPr>
          <p:cNvSpPr txBox="1"/>
          <p:nvPr/>
        </p:nvSpPr>
        <p:spPr>
          <a:xfrm>
            <a:off x="2093226" y="1498601"/>
            <a:ext cx="1049001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upgraded without affecting ATM software.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patient fields added without changing existing applications.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optimized for millions of products.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courses added without affecting student portal.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102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3E82-5CBA-ABFA-6988-43DE51F5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1C5AB-8FF1-2CB9-5A98-3034C6C8F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2D7784-7556-3684-684D-D9A92F7B1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469D19-B0D3-6D32-5FBF-8E165AFD86C0}"/>
              </a:ext>
            </a:extLst>
          </p:cNvPr>
          <p:cNvSpPr txBox="1"/>
          <p:nvPr/>
        </p:nvSpPr>
        <p:spPr>
          <a:xfrm>
            <a:off x="2127346" y="1929600"/>
            <a:ext cx="855202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separates applications from database changes.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types: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feature of DBMS architecture.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flexibility, maintenance, scalability, and performance.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C9178-F6E9-8055-05C5-8E3FD4798435}"/>
              </a:ext>
            </a:extLst>
          </p:cNvPr>
          <p:cNvSpPr txBox="1"/>
          <p:nvPr/>
        </p:nvSpPr>
        <p:spPr>
          <a:xfrm>
            <a:off x="4880436" y="801969"/>
            <a:ext cx="2431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0000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E894-59EF-B292-EE91-6E92570B0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F81AC-C87D-DBDA-4DB2-C96D788A1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64" y="205558"/>
            <a:ext cx="1114361" cy="1293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DC4B8A-9FC5-F3E5-35D2-4CDD61001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1008" y="228690"/>
            <a:ext cx="1348892" cy="1199972"/>
          </a:xfrm>
          <a:prstGeom prst="rect">
            <a:avLst/>
          </a:prstGeom>
        </p:spPr>
      </p:pic>
      <p:pic>
        <p:nvPicPr>
          <p:cNvPr id="2" name="Picture 1" descr="Thank you Images - Free Download on Magnific (formerly Freepik)">
            <a:extLst>
              <a:ext uri="{FF2B5EF4-FFF2-40B4-BE49-F238E27FC236}">
                <a16:creationId xmlns:a16="http://schemas.microsoft.com/office/drawing/2014/main" id="{83DB7D6C-63B7-2B15-E282-625B7DA1E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887" y="933450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7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630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S</dc:creator>
  <cp:lastModifiedBy>BHUVANESWARI S</cp:lastModifiedBy>
  <cp:revision>1</cp:revision>
  <dcterms:created xsi:type="dcterms:W3CDTF">2026-07-21T04:36:16Z</dcterms:created>
  <dcterms:modified xsi:type="dcterms:W3CDTF">2026-07-25T03:16:53Z</dcterms:modified>
</cp:coreProperties>
</file>